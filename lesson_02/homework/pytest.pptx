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e87tpVz6U5LSY9AM86mLBqce3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30699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3931920"/>
            <a:ext cx="3840480" cy="3840480"/>
          </a:xfrm>
          <a:prstGeom prst="ellipse">
            <a:avLst/>
          </a:prstGeom>
          <a:solidFill>
            <a:srgbClr val="FFD43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3069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ytest_deck/icon_python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786384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94340" y="169165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pytest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94360" y="3273540"/>
            <a:ext cx="960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Фреймворк модульного тестирования для языка Python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94360" y="4892040"/>
            <a:ext cx="9601200" cy="18288"/>
          </a:xfrm>
          <a:prstGeom prst="rect">
            <a:avLst/>
          </a:prstGeom>
          <a:solidFill>
            <a:srgbClr val="3A4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" y="5120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200"/>
              <a:buFont typeface="Calibri"/>
              <a:buNone/>
            </a:pPr>
            <a:r>
              <a:rPr b="1" i="0" lang="en-US" sz="24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Участники группы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" y="54406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Сысуева Екатерина | Карелин Артем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1 · ОБЩИЕ СВЕДЕНИЯ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59" y="1600200"/>
            <a:ext cx="11500200" cy="4206300"/>
          </a:xfrm>
          <a:prstGeom prst="roundRect">
            <a:avLst>
              <a:gd fmla="val 2609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8670" y="1874525"/>
            <a:ext cx="10663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500"/>
              <a:buFont typeface="Calibri"/>
              <a:buNone/>
            </a:pPr>
            <a:r>
              <a:rPr b="1" i="0" lang="en-US" sz="23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r>
              <a:rPr b="0" i="0" lang="en-US" sz="2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— сторонний (не входит в стандартную библиотеку) фреймворк для написания и запуска тестов на языке Python: от простых unit-тестов до сложной функциональной проверки приложений и библиотек.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" y="3566160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Автор / организация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094625" y="3657725"/>
            <a:ext cx="77052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1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Holger Krekel; сейчас развивается сообществом pytest-dev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" y="4389113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Год создания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0" y="4114800"/>
            <a:ext cx="6494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2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2004 — как часть проекта py.test; современная pytest выделена в 2010-х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5212090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Актуальная версия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96500" y="5086775"/>
            <a:ext cx="6050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2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Линейка 9.x (pytest 9.0 — ноябрь 2025, 9.1.1 — июнь 2026)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2 · АКТУАЛЬНОСТЬ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4074" y="1653273"/>
            <a:ext cx="4069200" cy="4756200"/>
          </a:xfrm>
          <a:prstGeom prst="roundRect">
            <a:avLst>
              <a:gd fmla="val 3117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105675" lIns="105675" spcFirstLastPara="1" rIns="105675" wrap="square" tIns="10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/>
          </a:p>
        </p:txBody>
      </p:sp>
      <p:sp>
        <p:nvSpPr>
          <p:cNvPr id="48" name="Google Shape;48;p3"/>
          <p:cNvSpPr/>
          <p:nvPr/>
        </p:nvSpPr>
        <p:spPr>
          <a:xfrm>
            <a:off x="457208" y="1737362"/>
            <a:ext cx="34350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25" lIns="105675" spcFirstLastPara="1" rIns="105675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9"/>
              <a:buFont typeface="Cambria"/>
              <a:buNone/>
            </a:pPr>
            <a:r>
              <a:rPr b="1" i="0" lang="en-US" sz="2543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Популярность в индустрии</a:t>
            </a:r>
            <a:endParaRPr b="0" i="0" sz="25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8020" y="2655667"/>
            <a:ext cx="3435000" cy="24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25" lIns="105675" spcFirstLastPara="1" rIns="105675" wrap="square" tIns="528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45"/>
              <a:buFont typeface="Calibri"/>
              <a:buNone/>
            </a:pPr>
            <a:r>
              <a:rPr b="0" i="0" lang="en-US" sz="2138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Фактический стандарт тестирования в Python-сообществе: используется гораздо чаще, чем встроенный unittest, в большинстве современных open-source и коммерческих проектов.</a:t>
            </a:r>
            <a:endParaRPr b="0" i="0" sz="21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87888" y="1653273"/>
            <a:ext cx="4069200" cy="4756200"/>
          </a:xfrm>
          <a:prstGeom prst="roundRect">
            <a:avLst>
              <a:gd fmla="val 3117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105675" lIns="105675" spcFirstLastPara="1" rIns="105675" wrap="square" tIns="10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3"/>
          </a:p>
        </p:txBody>
      </p:sp>
      <p:sp>
        <p:nvSpPr>
          <p:cNvPr id="51" name="Google Shape;51;p3"/>
          <p:cNvSpPr/>
          <p:nvPr/>
        </p:nvSpPr>
        <p:spPr>
          <a:xfrm>
            <a:off x="4480569" y="1737338"/>
            <a:ext cx="34350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25" lIns="105675" spcFirstLastPara="1" rIns="105675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9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Поддержка сообществом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374881" y="2716481"/>
            <a:ext cx="3435000" cy="24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25" lIns="105675" spcFirstLastPara="1" rIns="105675" wrap="square" tIns="528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45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Разработку ведёт организация pytest-dev на GitHub; сотни контрибьюторов, активный форум и документация, экосистема из тысяч сторонних плагинов на PyPI.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291725" y="1653273"/>
            <a:ext cx="3757200" cy="4756200"/>
          </a:xfrm>
          <a:prstGeom prst="roundRect">
            <a:avLst>
              <a:gd fmla="val 3117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503920" y="1787153"/>
            <a:ext cx="297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Частота обновлений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551970" y="2655665"/>
            <a:ext cx="297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Регулярные релизы: крупная версия 9.0 вышла в ноябре 2025 года, патчи выходят почти ежемесячно (например, 9.0.3 — апрель 2026, 9.1.1 — июнь 2026).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3 · ВОЗМОЖНОСТИ И ФУНКЦИОНАЛ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743700" y="1614208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Параметризация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43700" y="2129923"/>
            <a:ext cx="4380300" cy="1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@pytest.mark.parametrize позволяет запускать один тест с разными наборами входных данных без дублирования кода.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24641" y="1565751"/>
            <a:ext cx="343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5375" lIns="110775" spcFirstLastPara="1" rIns="110775" wrap="square" tIns="55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96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Плагины и маркеры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524652" y="2056843"/>
            <a:ext cx="42660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5375" lIns="110775" spcFirstLastPara="1" rIns="110775" wrap="square" tIns="553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94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Более 1000 плагинов (pytest-mock, pytest-django, pytest-xdist и др.), собственные маркеры @pytest.mark.*.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554495" y="4068293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CI/CD и отчёты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554501" y="4525500"/>
            <a:ext cx="4266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Встроенная генерация отчётов JUnit XML; интеграция с GitHub Actions, GitLab CI, Jenkins «из коробки».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743700" y="4064218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Интеграция с IDE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743700" y="4525492"/>
            <a:ext cx="35205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Поддержка в PyCharm, VS Code, PyDev — запуск и отладка тестов прямо в редакторе.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4 · ПЛЮСЫ И МИНУСЫ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39326" y="932353"/>
            <a:ext cx="5725200" cy="5541600"/>
          </a:xfrm>
          <a:prstGeom prst="roundRect">
            <a:avLst>
              <a:gd fmla="val 2637" name="adj"/>
            </a:avLst>
          </a:prstGeom>
          <a:solidFill>
            <a:srgbClr val="EAF7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78835" y="1007440"/>
            <a:ext cx="502800" cy="502800"/>
          </a:xfrm>
          <a:prstGeom prst="ellipse">
            <a:avLst/>
          </a:prstGeom>
          <a:solidFill>
            <a:srgbClr val="1F9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ytest_deck/icon_check.png"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563" y="11171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1318915" y="1053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6C43"/>
              </a:buClr>
              <a:buSzPts val="1800"/>
              <a:buFont typeface="Cambria"/>
              <a:buNone/>
            </a:pPr>
            <a:r>
              <a:rPr b="1" i="0" lang="en-US" sz="2500" u="none" cap="none" strike="noStrike">
                <a:solidFill>
                  <a:srgbClr val="146C43"/>
                </a:solidFill>
                <a:latin typeface="Cambria"/>
                <a:ea typeface="Cambria"/>
                <a:cs typeface="Cambria"/>
                <a:sym typeface="Cambria"/>
              </a:rPr>
              <a:t>Плюсы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78835" y="1693240"/>
            <a:ext cx="4846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Минимум шаблонного кода — тест это просто функция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Мощные фикстуры и повторное использование окружения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Огромная экосистема плагинов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Понятные, подробные отчёты об ошибках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Полностью совместим с тестами на unittest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31675" y="969850"/>
            <a:ext cx="5886900" cy="5466600"/>
          </a:xfrm>
          <a:prstGeom prst="roundRect">
            <a:avLst>
              <a:gd fmla="val 2637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360140" y="1007440"/>
            <a:ext cx="502800" cy="5028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ytest_deck/icon_times.png"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868" y="11171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7000220" y="1053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A2A"/>
              </a:buClr>
              <a:buSzPts val="1800"/>
              <a:buFont typeface="Cambria"/>
              <a:buNone/>
            </a:pPr>
            <a:r>
              <a:rPr b="1" i="0" lang="en-US" sz="2500" u="none" cap="none" strike="noStrike">
                <a:solidFill>
                  <a:srgbClr val="A32A2A"/>
                </a:solidFill>
                <a:latin typeface="Cambria"/>
                <a:ea typeface="Cambria"/>
                <a:cs typeface="Cambria"/>
                <a:sym typeface="Cambria"/>
              </a:rPr>
              <a:t>Минусы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360140" y="1693240"/>
            <a:ext cx="4846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"Магическое" внедрение фикстур по имени — не всегда очевидно новичку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Свобода структуры тестов может привести к беспорядку в крупном проекте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Нет встроенного мокирования (нужен unittest.mock или pytest-mock)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Часть плагинов может отставать в поддержке новых версий Python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5 · ПРИМЕРЫ ИСПОЛЬЗОВАНИЯ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25800" y="843525"/>
            <a:ext cx="11109900" cy="2680500"/>
          </a:xfrm>
          <a:prstGeom prst="roundRect">
            <a:avLst>
              <a:gd fmla="val 4651" name="adj"/>
            </a:avLst>
          </a:prstGeom>
          <a:solidFill>
            <a:srgbClr val="121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77217" y="984591"/>
            <a:ext cx="5029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100"/>
              <a:buFont typeface="Calibri"/>
              <a:buNone/>
            </a:pPr>
            <a:r>
              <a:rPr b="1" i="0" lang="en-US" sz="23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test_sample.py — простейший тест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77229" y="1420950"/>
            <a:ext cx="75003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3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CFB"/>
                </a:solidFill>
                <a:latin typeface="Courier New"/>
                <a:ea typeface="Courier New"/>
                <a:cs typeface="Courier New"/>
                <a:sym typeface="Courier New"/>
              </a:rPr>
              <a:t>def inc(x):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3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CFB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 + 1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3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CFB"/>
                </a:solidFill>
                <a:latin typeface="Courier New"/>
                <a:ea typeface="Courier New"/>
                <a:cs typeface="Courier New"/>
                <a:sym typeface="Courier New"/>
              </a:rPr>
              <a:t>def test_answer():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3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CFB"/>
                </a:solidFill>
                <a:latin typeface="Courier New"/>
                <a:ea typeface="Courier New"/>
                <a:cs typeface="Courier New"/>
                <a:sym typeface="Courier New"/>
              </a:rPr>
              <a:t>    assert inc(3) ==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50" y="3607949"/>
            <a:ext cx="11109900" cy="2518500"/>
          </a:xfrm>
          <a:prstGeom prst="roundRect">
            <a:avLst>
              <a:gd fmla="val 3922" name="adj"/>
            </a:avLst>
          </a:prstGeom>
          <a:solidFill>
            <a:srgbClr val="121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77240" y="375083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100"/>
              <a:buFont typeface="Calibri"/>
              <a:buNone/>
            </a:pPr>
            <a:r>
              <a:rPr b="1" i="0" lang="en-US" sz="24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Как выглядит вывод результатов ($ pytest -v)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92478" y="4107448"/>
            <a:ext cx="106071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25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CFB"/>
                </a:solidFill>
                <a:latin typeface="Courier New"/>
                <a:ea typeface="Courier New"/>
                <a:cs typeface="Courier New"/>
                <a:sym typeface="Courier New"/>
              </a:rPr>
              <a:t>test_sample.py::test_answer </a:t>
            </a:r>
            <a:r>
              <a:rPr b="1" i="0" lang="en-US" sz="2400" u="none" cap="none" strike="noStrike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PASSED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125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250"/>
              <a:buFont typeface="Courier New"/>
              <a:buNone/>
            </a:pPr>
            <a:r>
              <a:rPr b="0" i="0" lang="en-US" sz="2400" u="none" cap="none" strike="noStrike">
                <a:solidFill>
                  <a:srgbClr val="9AA5C9"/>
                </a:solidFill>
                <a:latin typeface="Courier New"/>
                <a:ea typeface="Courier New"/>
                <a:cs typeface="Courier New"/>
                <a:sym typeface="Courier New"/>
              </a:rPr>
              <a:t>===== 1 passed in 0.02s =====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6 · СРАВНЕНИЕ С АНАЛОГАМИ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88350" y="814874"/>
            <a:ext cx="3538500" cy="840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02491" y="814874"/>
            <a:ext cx="3310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3"/>
              <a:buFont typeface="Calibri"/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Критерий</a:t>
            </a:r>
            <a:endParaRPr b="0" i="0" sz="1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726734" y="814874"/>
            <a:ext cx="3823800" cy="840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840876" y="814874"/>
            <a:ext cx="3595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3"/>
              <a:buFont typeface="Calibri"/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endParaRPr b="0" i="0" sz="1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550472" y="814874"/>
            <a:ext cx="3823800" cy="840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664613" y="814874"/>
            <a:ext cx="3595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3"/>
              <a:buFont typeface="Calibri"/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unittest</a:t>
            </a:r>
            <a:endParaRPr b="0" i="0" sz="1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88350" y="1655077"/>
            <a:ext cx="35385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02491" y="1655077"/>
            <a:ext cx="3310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Синтаксис теста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726734" y="1655077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840876" y="1655077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Обычная функция + assert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550472" y="1655077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664613" y="1655077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Класс, наследуемый от TestCase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88350" y="2602215"/>
            <a:ext cx="35385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02491" y="2602215"/>
            <a:ext cx="3310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Откуда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726734" y="2602215"/>
            <a:ext cx="38238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840876" y="2602215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Сторонний пакет (pip install)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550472" y="2602215"/>
            <a:ext cx="38238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664613" y="2602215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Встроен в стандартную библиотеку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88350" y="3549353"/>
            <a:ext cx="35385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02491" y="3549353"/>
            <a:ext cx="3310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Фикстуры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726734" y="3549353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840876" y="3549353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Гибкие @pytest.fixture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550472" y="3549353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7664613" y="3549353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setUp / tearDown в классе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88350" y="4496491"/>
            <a:ext cx="35385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02491" y="4496491"/>
            <a:ext cx="3310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Параметризация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726734" y="4496491"/>
            <a:ext cx="38238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840876" y="4496491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Встроена (@parametrize)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550472" y="4496491"/>
            <a:ext cx="3823800" cy="947100"/>
          </a:xfrm>
          <a:prstGeom prst="rect">
            <a:avLst/>
          </a:prstGeom>
          <a:solidFill>
            <a:srgbClr val="F7F8FA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664613" y="4496491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Нет, нужен doctest/ddt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88350" y="5443629"/>
            <a:ext cx="35385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02491" y="5443629"/>
            <a:ext cx="33102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Плагины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726734" y="5443629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840876" y="5443629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1000+ на PyPI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550472" y="5443629"/>
            <a:ext cx="3823800" cy="947100"/>
          </a:xfrm>
          <a:prstGeom prst="rect">
            <a:avLst/>
          </a:prstGeom>
          <a:solidFill>
            <a:srgbClr val="FFFFFF"/>
          </a:solidFill>
          <a:ln cap="flat" cmpd="sng" w="11900">
            <a:solidFill>
              <a:srgbClr val="E2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125" lIns="114125" spcFirstLastPara="1" rIns="114125" wrap="square" tIns="11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664613" y="5443629"/>
            <a:ext cx="35955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050" lIns="114125" spcFirstLastPara="1" rIns="114125" wrap="square" tIns="57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36"/>
              <a:buFont typeface="Calibri"/>
              <a:buNone/>
            </a:pPr>
            <a:r>
              <a:rPr b="0" i="0" lang="en-US" sz="143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Практически нет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7 · УСТАНОВКА И НАСТРОЙКА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9450" y="820900"/>
            <a:ext cx="12003600" cy="1265100"/>
          </a:xfrm>
          <a:prstGeom prst="roundRect">
            <a:avLst>
              <a:gd fmla="val 4651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115325" lIns="115325" spcFirstLastPara="1" rIns="115325" wrap="square" tIns="115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9461" y="917027"/>
            <a:ext cx="960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115325" spcFirstLastPara="1" rIns="115325" wrap="square" tIns="57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92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Установка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16161" y="1446993"/>
            <a:ext cx="11003400" cy="3864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115325" lIns="115325" spcFirstLastPara="1" rIns="115325" wrap="square" tIns="115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93207" y="1477943"/>
            <a:ext cx="10403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650" lIns="115325" spcFirstLastPara="1" rIns="115325" wrap="square" tIns="57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40"/>
              <a:buFont typeface="Courier New"/>
              <a:buNone/>
            </a:pPr>
            <a:r>
              <a:rPr b="0" i="0" lang="en-US" sz="164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pytest</a:t>
            </a:r>
            <a:endParaRPr b="0" i="0" sz="1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6000" y="2265900"/>
            <a:ext cx="11947200" cy="1142100"/>
          </a:xfrm>
          <a:prstGeom prst="roundRect">
            <a:avLst>
              <a:gd fmla="val 4651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9597" y="2321960"/>
            <a:ext cx="9602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Структура проекта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25994" y="2902567"/>
            <a:ext cx="11003100" cy="3408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93355" y="2864792"/>
            <a:ext cx="104031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test_*.py / *_test.py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508980" y="7223525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pytest сам находит файлы и функции с именами test_* — не нужно ничего регистрировать вручную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9600" y="3565350"/>
            <a:ext cx="12003600" cy="1265100"/>
          </a:xfrm>
          <a:prstGeom prst="roundRect">
            <a:avLst>
              <a:gd fmla="val 4651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18945" y="3517074"/>
            <a:ext cx="95037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Запуск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26000" y="3988424"/>
            <a:ext cx="11003100" cy="3480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93208" y="3988417"/>
            <a:ext cx="10296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pytest -v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9450" y="4886250"/>
            <a:ext cx="12003600" cy="1352100"/>
          </a:xfrm>
          <a:prstGeom prst="roundRect">
            <a:avLst>
              <a:gd fmla="val 4651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4110" y="4987790"/>
            <a:ext cx="1089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Минимальная конфигурация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4100" y="5696000"/>
            <a:ext cx="10821600" cy="3864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35215" y="5663495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ourier New"/>
              <a:buNone/>
            </a:pPr>
            <a:r>
              <a:rPr b="0" i="0" lang="en-US" sz="16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8 · КЕЙСЫ ИЗ ПРАКТИКИ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12357" y="1015051"/>
            <a:ext cx="11185800" cy="4827900"/>
          </a:xfrm>
          <a:prstGeom prst="roundRect">
            <a:avLst>
              <a:gd fmla="val 2609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48660" y="127169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Реальные сферы применения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66793" y="1874550"/>
            <a:ext cx="104544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Веб-разработка — тестирование приложений на Django и Flask (через плагины pytest-django, pytest-flask)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68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 science и научные вычисления — библиотеки экосистемы Python (pandas, NumPy, scikit-learn) используют pytest для собственных тестов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68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DevOps и автоматизация — проверка инфраструктурного и скриптового кода в CI-конвейерах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68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Крупные технологические компании и open-source проекты — pytest фигурирует в тестовых наборах множества популярных Python-библиотек на GitHub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998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306998"/>
                </a:solidFill>
                <a:latin typeface="Calibri"/>
                <a:ea typeface="Calibri"/>
                <a:cs typeface="Calibri"/>
                <a:sym typeface="Calibri"/>
              </a:rPr>
              <a:t>9 · ПЕРСПЕКТИВЫ РАЗВИТИЯ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48680" y="121490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Активное развитие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48640" y="1732147"/>
            <a:ext cx="534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После перехода на 9-ю ветку в ноябре 2025 года команда продолжает выпускать регулярные патчи и минорные версии.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392305" y="1275027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Поддержка асинхронности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323690" y="1732160"/>
            <a:ext cx="534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Экосистема плагинов (pytest-asyncio и др.) активно развивается вместе с ростом асинхронного кода на Python.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68499" y="3581125"/>
            <a:ext cx="509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Совместимость с новым Python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69215" y="4103040"/>
            <a:ext cx="534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Каждый крупный релиз добавляет поддержку свежих версий языка (актуально до Python 3.14).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263655" y="3648057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Долгосрочная актуальность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263640" y="4226752"/>
            <a:ext cx="534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None/>
            </a:pPr>
            <a:r>
              <a:rPr b="0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Статус фактического стандарта тестирования снижает риск, что технология потеряет значимость в обозримом будущем.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06998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alibri"/>
              <a:buNone/>
            </a:pPr>
            <a:r>
              <a:rPr b="1" i="0" lang="en-US" sz="32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10 · ЗАКЛЮЧЕНИЕ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14675" y="1052749"/>
            <a:ext cx="5537400" cy="4572000"/>
          </a:xfrm>
          <a:prstGeom prst="roundRect">
            <a:avLst>
              <a:gd fmla="val 2727" name="adj"/>
            </a:avLst>
          </a:prstGeom>
          <a:solidFill>
            <a:srgbClr val="252F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630810" y="1151565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00"/>
              <a:buFont typeface="Cambria"/>
              <a:buNone/>
            </a:pPr>
            <a:r>
              <a:rPr b="1" i="0" lang="en-US" sz="2500" u="none" cap="none" strike="noStrike">
                <a:solidFill>
                  <a:srgbClr val="FFD43B"/>
                </a:solidFill>
                <a:latin typeface="Cambria"/>
                <a:ea typeface="Cambria"/>
                <a:cs typeface="Cambria"/>
                <a:sym typeface="Cambria"/>
              </a:rPr>
              <a:t>Используйте, если...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30810" y="1676180"/>
            <a:ext cx="4846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CF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E7ECFB"/>
                </a:solidFill>
                <a:latin typeface="Calibri"/>
                <a:ea typeface="Calibri"/>
                <a:cs typeface="Calibri"/>
                <a:sym typeface="Calibri"/>
              </a:rPr>
              <a:t>нужен быстрый старт с минимумом шаблонного кода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7ECF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E7ECFB"/>
                </a:solidFill>
                <a:latin typeface="Calibri"/>
                <a:ea typeface="Calibri"/>
                <a:cs typeface="Calibri"/>
                <a:sym typeface="Calibri"/>
              </a:rPr>
              <a:t>проект будет расти и потребуются гибкие фикстуры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7ECF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E7ECFB"/>
                </a:solidFill>
                <a:latin typeface="Calibri"/>
                <a:ea typeface="Calibri"/>
                <a:cs typeface="Calibri"/>
                <a:sym typeface="Calibri"/>
              </a:rPr>
              <a:t>важна интеграция с CI/CD и подробные отчёты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7ECFB"/>
              </a:buClr>
              <a:buSzPts val="2100"/>
              <a:buFont typeface="Calibri"/>
              <a:buChar char="•"/>
            </a:pPr>
            <a:r>
              <a:rPr b="0" i="0" lang="en-US" sz="2100" u="none" cap="none" strike="noStrike">
                <a:solidFill>
                  <a:srgbClr val="E7ECFB"/>
                </a:solidFill>
                <a:latin typeface="Calibri"/>
                <a:ea typeface="Calibri"/>
                <a:cs typeface="Calibri"/>
                <a:sym typeface="Calibri"/>
              </a:rPr>
              <a:t>нужны сторонние плагины под конкретный стек (Django, async, БД)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195058" y="1052760"/>
            <a:ext cx="5440800" cy="4023300"/>
          </a:xfrm>
          <a:prstGeom prst="roundRect">
            <a:avLst>
              <a:gd fmla="val 2727" name="adj"/>
            </a:avLst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288065" y="1151565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2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Рекомендация группы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360140" y="1721892"/>
            <a:ext cx="4846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0" i="0" lang="en-US" sz="2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pytest — оптимальный выбор для большинства современных проектов на Python: от небольших скриптов до крупных production-систем. Встроенный unittest стоит рассматривать в первую очередь там, где важно обойтись без внешних зависимостей.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30699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FFD43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50" y="2971805"/>
            <a:ext cx="1219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5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Спасибо за внимание!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PYTEST ·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C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C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2026-09-22T08:56:51Z</dcterms:created>
  <dc:creator>PptxGenJS</dc:creator>
</cp:coreProperties>
</file>